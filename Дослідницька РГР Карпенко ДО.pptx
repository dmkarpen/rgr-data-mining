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Montserrat"/>
      <p:regular r:id="rId21"/>
      <p:bold r:id="rId22"/>
      <p:italic r:id="rId23"/>
      <p:boldItalic r:id="rId24"/>
    </p:embeddedFont>
    <p:embeddedFont>
      <p:font typeface="Lat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Montserrat-bold.fntdata"/><Relationship Id="rId21" Type="http://schemas.openxmlformats.org/officeDocument/2006/relationships/font" Target="fonts/Montserrat-regular.fntdata"/><Relationship Id="rId24" Type="http://schemas.openxmlformats.org/officeDocument/2006/relationships/font" Target="fonts/Montserrat-boldItalic.fntdata"/><Relationship Id="rId23" Type="http://schemas.openxmlformats.org/officeDocument/2006/relationships/font" Target="fonts/Montserrat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bold.fntdata"/><Relationship Id="rId25" Type="http://schemas.openxmlformats.org/officeDocument/2006/relationships/font" Target="fonts/Lato-regular.fntdata"/><Relationship Id="rId28" Type="http://schemas.openxmlformats.org/officeDocument/2006/relationships/font" Target="fonts/Lato-boldItalic.fntdata"/><Relationship Id="rId27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2" y="0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91c435899e_0_117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g391c435899e_0_1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91c435899e_0_118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g391c435899e_0_1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91c435899e_0_119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g391c435899e_0_1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91c435899e_0_119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g391c435899e_0_1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91c435899e_0_120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g391c435899e_0_1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91c435899e_0_12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g391c435899e_0_1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91c435899e_0_12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g391c435899e_0_1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91c435899e_0_12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g391c435899e_0_1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91c435899e_0_12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g391c435899e_0_1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91c435899e_0_12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g391c435899e_0_1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91c435899e_0_126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g391c435899e_0_1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91c435899e_0_124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g391c435899e_0_1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91c435899e_0_125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g391c435899e_0_1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" name="Google Shape;15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6" name="Google Shape;16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" name="Google Shape;20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1" name="Google Shape;21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22" name="Google Shape;2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oogle Shape;24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5" name="Google Shape;25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" name="Google Shape;40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3" name="Google Shape;43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" name="Google Shape;4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oogle Shape;46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7" name="Google Shape;47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" name="Google Shape;49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0" name="Google Shape;50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1" name="Google Shape;51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oogle Shape;53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4" name="Google Shape;54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6" name="Google Shape;56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7" name="Google Shape;57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8" name="Google Shape;58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9" name="Google Shape;5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oogle Shape;61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2" name="Google Shape;62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4" name="Google Shape;64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5" name="Google Shape;6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oogle Shape;67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8" name="Google Shape;68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0" name="Google Shape;70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1" name="Google Shape;71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2" name="Google Shape;7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5" name="Google Shape;75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oogle Shape;96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7" name="Google Shape;97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9" name="Google Shape;99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oogle Shape;104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5" name="Google Shape;105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11" name="Google Shape;111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9" name="Google Shape;129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30" name="Google Shape;130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1" name="Google Shape;131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3"/>
          <p:cNvSpPr txBox="1"/>
          <p:nvPr>
            <p:ph type="title"/>
          </p:nvPr>
        </p:nvSpPr>
        <p:spPr>
          <a:xfrm>
            <a:off x="457200" y="206375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6" name="Google Shape;136;p13"/>
          <p:cNvSpPr txBox="1"/>
          <p:nvPr>
            <p:ph idx="1" type="body"/>
          </p:nvPr>
        </p:nvSpPr>
        <p:spPr>
          <a:xfrm>
            <a:off x="457200" y="1200150"/>
            <a:ext cx="8229600" cy="33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137" name="Google Shape;137;p13"/>
          <p:cNvSpPr txBox="1"/>
          <p:nvPr>
            <p:ph idx="10" type="dt"/>
          </p:nvPr>
        </p:nvSpPr>
        <p:spPr>
          <a:xfrm>
            <a:off x="457200" y="4684712"/>
            <a:ext cx="21336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13"/>
          <p:cNvSpPr txBox="1"/>
          <p:nvPr>
            <p:ph idx="11" type="ftr"/>
          </p:nvPr>
        </p:nvSpPr>
        <p:spPr>
          <a:xfrm>
            <a:off x="3124200" y="4684712"/>
            <a:ext cx="28956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13"/>
          <p:cNvSpPr txBox="1"/>
          <p:nvPr>
            <p:ph idx="12" type="sldNum"/>
          </p:nvPr>
        </p:nvSpPr>
        <p:spPr>
          <a:xfrm>
            <a:off x="6553200" y="4684712"/>
            <a:ext cx="21336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hyperlink" Target="https://github.com/Dmkarpen/rgr-data-mining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5.png"/><Relationship Id="rId6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9.png"/><Relationship Id="rId6" Type="http://schemas.openxmlformats.org/officeDocument/2006/relationships/image" Target="../media/image7.png"/><Relationship Id="rId7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4"/>
          <p:cNvPicPr preferRelativeResize="0"/>
          <p:nvPr/>
        </p:nvPicPr>
        <p:blipFill rotWithShape="1">
          <a:blip r:embed="rId3">
            <a:alphaModFix/>
          </a:blip>
          <a:srcRect b="54648" l="0" r="45186" t="0"/>
          <a:stretch/>
        </p:blipFill>
        <p:spPr>
          <a:xfrm>
            <a:off x="-3175" y="3673475"/>
            <a:ext cx="717550" cy="147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4"/>
          <p:cNvPicPr preferRelativeResize="0"/>
          <p:nvPr/>
        </p:nvPicPr>
        <p:blipFill rotWithShape="1">
          <a:blip r:embed="rId4">
            <a:alphaModFix/>
          </a:blip>
          <a:srcRect b="0" l="0" r="57698" t="0"/>
          <a:stretch/>
        </p:blipFill>
        <p:spPr>
          <a:xfrm>
            <a:off x="8204200" y="2727325"/>
            <a:ext cx="939800" cy="244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19925" y="3579812"/>
            <a:ext cx="1992312" cy="135572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4"/>
          <p:cNvSpPr txBox="1"/>
          <p:nvPr>
            <p:ph type="ctrTitle"/>
          </p:nvPr>
        </p:nvSpPr>
        <p:spPr>
          <a:xfrm>
            <a:off x="685800" y="1598612"/>
            <a:ext cx="7772400" cy="1101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Arial"/>
                <a:ea typeface="Arial"/>
                <a:cs typeface="Arial"/>
                <a:sym typeface="Arial"/>
              </a:rPr>
              <a:t>Оптимізація показників роботи кінотеатру засобами інтелектуального аналізу даних</a:t>
            </a:r>
            <a:endParaRPr sz="3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4"/>
          <p:cNvSpPr txBox="1"/>
          <p:nvPr>
            <p:ph idx="1" type="subTitle"/>
          </p:nvPr>
        </p:nvSpPr>
        <p:spPr>
          <a:xfrm>
            <a:off x="5083950" y="3104663"/>
            <a:ext cx="3470700" cy="16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Інтелектуальний аналіз даних</a:t>
            </a:r>
            <a:br>
              <a:rPr lang="en-US"/>
            </a:br>
            <a:r>
              <a:rPr lang="en-US"/>
              <a:t>Дослідницька розрахунково-графічна робота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6"/>
              </a:rPr>
              <a:t>GitHub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Студент: Карпенко Д. О.</a:t>
            </a:r>
            <a:br>
              <a:rPr lang="en-US"/>
            </a:br>
            <a:r>
              <a:rPr lang="en-US"/>
              <a:t>Група: І-26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15"/>
          <p:cNvPicPr preferRelativeResize="0"/>
          <p:nvPr/>
        </p:nvPicPr>
        <p:blipFill rotWithShape="1">
          <a:blip r:embed="rId3">
            <a:alphaModFix/>
          </a:blip>
          <a:srcRect b="54648" l="0" r="45187" t="0"/>
          <a:stretch/>
        </p:blipFill>
        <p:spPr>
          <a:xfrm>
            <a:off x="-3175" y="3673475"/>
            <a:ext cx="717550" cy="147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5"/>
          <p:cNvSpPr txBox="1"/>
          <p:nvPr>
            <p:ph type="title"/>
          </p:nvPr>
        </p:nvSpPr>
        <p:spPr>
          <a:xfrm>
            <a:off x="457200" y="206375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Arial"/>
                <a:ea typeface="Arial"/>
                <a:cs typeface="Arial"/>
                <a:sym typeface="Arial"/>
              </a:rPr>
              <a:t>Мета та завдання проєкту</a:t>
            </a:r>
            <a:endParaRPr sz="3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5"/>
          <p:cNvSpPr txBox="1"/>
          <p:nvPr>
            <p:ph idx="1" type="body"/>
          </p:nvPr>
        </p:nvSpPr>
        <p:spPr>
          <a:xfrm>
            <a:off x="457200" y="1200150"/>
            <a:ext cx="8229600" cy="33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200">
                <a:latin typeface="Arial"/>
                <a:ea typeface="Arial"/>
                <a:cs typeface="Arial"/>
                <a:sym typeface="Arial"/>
              </a:rPr>
              <a:t>Мета проєкту:</a:t>
            </a:r>
            <a:endParaRPr b="1"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Провести інтелектуальний аналіз даних кінотеатру для виявлення факторів, що впливають на відвідуваність, та оптимізації роботи кінотеатру.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200">
                <a:latin typeface="Arial"/>
                <a:ea typeface="Arial"/>
                <a:cs typeface="Arial"/>
                <a:sym typeface="Arial"/>
              </a:rPr>
              <a:t>Основні завдання:</a:t>
            </a:r>
            <a:endParaRPr b="1"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Збір і структуризація даних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Попередній аналіз і візуалізація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OLAP-аналіз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Мережевий аналіз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Побудова прогнозних моделей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Формування рекомендацій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6" name="Google Shape;156;p15"/>
          <p:cNvPicPr preferRelativeResize="0"/>
          <p:nvPr/>
        </p:nvPicPr>
        <p:blipFill rotWithShape="1">
          <a:blip r:embed="rId4">
            <a:alphaModFix/>
          </a:blip>
          <a:srcRect b="0" l="0" r="2591" t="0"/>
          <a:stretch/>
        </p:blipFill>
        <p:spPr>
          <a:xfrm>
            <a:off x="8128000" y="0"/>
            <a:ext cx="1016000" cy="270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16"/>
          <p:cNvPicPr preferRelativeResize="0"/>
          <p:nvPr/>
        </p:nvPicPr>
        <p:blipFill rotWithShape="1">
          <a:blip r:embed="rId3">
            <a:alphaModFix/>
          </a:blip>
          <a:srcRect b="54648" l="0" r="45186" t="0"/>
          <a:stretch/>
        </p:blipFill>
        <p:spPr>
          <a:xfrm>
            <a:off x="-3175" y="3673475"/>
            <a:ext cx="717550" cy="147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6"/>
          <p:cNvSpPr txBox="1"/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Arial"/>
                <a:ea typeface="Arial"/>
                <a:cs typeface="Arial"/>
                <a:sym typeface="Arial"/>
              </a:rPr>
              <a:t>Актуальність теми</a:t>
            </a:r>
            <a:endParaRPr sz="3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6"/>
          <p:cNvSpPr txBox="1"/>
          <p:nvPr>
            <p:ph idx="1" type="body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Кінотеатри працюють в умовах нестабільного попиту</a:t>
            </a:r>
            <a:br>
              <a:rPr lang="en-US" sz="1600">
                <a:latin typeface="Arial"/>
                <a:ea typeface="Arial"/>
                <a:cs typeface="Arial"/>
                <a:sym typeface="Arial"/>
              </a:rPr>
            </a:b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Неоптимальний розклад і ціни призводять до втрат</a:t>
            </a:r>
            <a:br>
              <a:rPr lang="en-US" sz="1600">
                <a:latin typeface="Arial"/>
                <a:ea typeface="Arial"/>
                <a:cs typeface="Arial"/>
                <a:sym typeface="Arial"/>
              </a:rPr>
            </a:b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Дані про продаж квитків містять приховані закономірності</a:t>
            </a:r>
            <a:br>
              <a:rPr lang="en-US" sz="1600">
                <a:latin typeface="Arial"/>
                <a:ea typeface="Arial"/>
                <a:cs typeface="Arial"/>
                <a:sym typeface="Arial"/>
              </a:rPr>
            </a:b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Інтелектуальний аналіз даних дозволяє ці закономірності виявити</a:t>
            </a:r>
            <a:br>
              <a:rPr lang="en-US" sz="1600">
                <a:latin typeface="Arial"/>
                <a:ea typeface="Arial"/>
                <a:cs typeface="Arial"/>
                <a:sym typeface="Arial"/>
              </a:rPr>
            </a:b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Отримані результати можуть використовуватись для управлінських рішень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4" name="Google Shape;164;p16"/>
          <p:cNvPicPr preferRelativeResize="0"/>
          <p:nvPr/>
        </p:nvPicPr>
        <p:blipFill rotWithShape="1">
          <a:blip r:embed="rId4">
            <a:alphaModFix/>
          </a:blip>
          <a:srcRect b="0" l="0" r="2590" t="0"/>
          <a:stretch/>
        </p:blipFill>
        <p:spPr>
          <a:xfrm>
            <a:off x="8128000" y="0"/>
            <a:ext cx="1016000" cy="270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7"/>
          <p:cNvPicPr preferRelativeResize="0"/>
          <p:nvPr/>
        </p:nvPicPr>
        <p:blipFill rotWithShape="1">
          <a:blip r:embed="rId3">
            <a:alphaModFix/>
          </a:blip>
          <a:srcRect b="54648" l="0" r="45187" t="0"/>
          <a:stretch/>
        </p:blipFill>
        <p:spPr>
          <a:xfrm>
            <a:off x="-3175" y="3673475"/>
            <a:ext cx="717550" cy="147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7"/>
          <p:cNvSpPr txBox="1"/>
          <p:nvPr>
            <p:ph type="title"/>
          </p:nvPr>
        </p:nvSpPr>
        <p:spPr>
          <a:xfrm>
            <a:off x="457200" y="206375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Arial"/>
                <a:ea typeface="Arial"/>
                <a:cs typeface="Arial"/>
                <a:sym typeface="Arial"/>
              </a:rPr>
              <a:t>Характеристика набору даних</a:t>
            </a:r>
            <a:endParaRPr sz="3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7"/>
          <p:cNvSpPr txBox="1"/>
          <p:nvPr>
            <p:ph idx="1" type="body"/>
          </p:nvPr>
        </p:nvSpPr>
        <p:spPr>
          <a:xfrm>
            <a:off x="457200" y="1200150"/>
            <a:ext cx="8229600" cy="33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Тип даних: транзакційні дані кінотеатру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Формат: CSV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Дані про: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2730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Char char="●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фільми та жанри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Char char="●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дні тижня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Char char="●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ціни квитків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Char char="●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кількість проданих квитків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Char char="●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заповненість залів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Char char="●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виручку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Набір даних підготовлений для аналітичних досліджень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2" name="Google Shape;172;p17"/>
          <p:cNvPicPr preferRelativeResize="0"/>
          <p:nvPr/>
        </p:nvPicPr>
        <p:blipFill rotWithShape="1">
          <a:blip r:embed="rId4">
            <a:alphaModFix/>
          </a:blip>
          <a:srcRect b="0" l="0" r="2591" t="0"/>
          <a:stretch/>
        </p:blipFill>
        <p:spPr>
          <a:xfrm>
            <a:off x="8128000" y="0"/>
            <a:ext cx="1016000" cy="270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18"/>
          <p:cNvPicPr preferRelativeResize="0"/>
          <p:nvPr/>
        </p:nvPicPr>
        <p:blipFill rotWithShape="1">
          <a:blip r:embed="rId3">
            <a:alphaModFix/>
          </a:blip>
          <a:srcRect b="54648" l="0" r="45187" t="0"/>
          <a:stretch/>
        </p:blipFill>
        <p:spPr>
          <a:xfrm>
            <a:off x="-3175" y="3673475"/>
            <a:ext cx="717550" cy="147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 txBox="1"/>
          <p:nvPr>
            <p:ph type="title"/>
          </p:nvPr>
        </p:nvSpPr>
        <p:spPr>
          <a:xfrm>
            <a:off x="457200" y="206375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Arial"/>
                <a:ea typeface="Arial"/>
                <a:cs typeface="Arial"/>
                <a:sym typeface="Arial"/>
              </a:rPr>
              <a:t>Архітектура дослідницького проєкту</a:t>
            </a:r>
            <a:endParaRPr sz="3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8"/>
          <p:cNvSpPr txBox="1"/>
          <p:nvPr>
            <p:ph idx="1" type="body"/>
          </p:nvPr>
        </p:nvSpPr>
        <p:spPr>
          <a:xfrm>
            <a:off x="457200" y="1200150"/>
            <a:ext cx="8229600" cy="33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AutoNum type="arabicPeriod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Джерело даних (CSV)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AutoNum type="arabicPeriod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Попередня обробка (Python, Pandas)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AutoNum type="arabicPeriod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Аналітичні модулі: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AutoNum type="alphaLcPeriod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описовий аналіз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AutoNum type="alphaLcPeriod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OLAP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AutoNum type="alphaLcPeriod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мережевий аналіз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AutoNum type="alphaLcPeriod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регресійні моделі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AutoNum type="alphaLcPeriod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survival-аналіз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AutoNum type="alphaLcPeriod"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AutoNum type="arabicPeriod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Візуалізація результатів</a:t>
            </a:r>
            <a:br>
              <a:rPr lang="en-US" sz="1200">
                <a:latin typeface="Arial"/>
                <a:ea typeface="Arial"/>
                <a:cs typeface="Arial"/>
                <a:sym typeface="Arial"/>
              </a:rPr>
            </a:b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AutoNum type="arabicPeriod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Аналітичний звіт і рекомендації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0" name="Google Shape;180;p18"/>
          <p:cNvPicPr preferRelativeResize="0"/>
          <p:nvPr/>
        </p:nvPicPr>
        <p:blipFill rotWithShape="1">
          <a:blip r:embed="rId4">
            <a:alphaModFix/>
          </a:blip>
          <a:srcRect b="0" l="0" r="2591" t="0"/>
          <a:stretch/>
        </p:blipFill>
        <p:spPr>
          <a:xfrm>
            <a:off x="8128000" y="0"/>
            <a:ext cx="1016000" cy="270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19"/>
          <p:cNvPicPr preferRelativeResize="0"/>
          <p:nvPr/>
        </p:nvPicPr>
        <p:blipFill rotWithShape="1">
          <a:blip r:embed="rId3">
            <a:alphaModFix/>
          </a:blip>
          <a:srcRect b="54648" l="0" r="45187" t="0"/>
          <a:stretch/>
        </p:blipFill>
        <p:spPr>
          <a:xfrm>
            <a:off x="-3175" y="3673475"/>
            <a:ext cx="717550" cy="147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9"/>
          <p:cNvSpPr txBox="1"/>
          <p:nvPr>
            <p:ph type="title"/>
          </p:nvPr>
        </p:nvSpPr>
        <p:spPr>
          <a:xfrm>
            <a:off x="457200" y="206375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Arial"/>
                <a:ea typeface="Arial"/>
                <a:cs typeface="Arial"/>
                <a:sym typeface="Arial"/>
              </a:rPr>
              <a:t>Попередній аналіз даних</a:t>
            </a:r>
            <a:endParaRPr sz="3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9"/>
          <p:cNvSpPr txBox="1"/>
          <p:nvPr>
            <p:ph idx="1" type="body"/>
          </p:nvPr>
        </p:nvSpPr>
        <p:spPr>
          <a:xfrm>
            <a:off x="457200" y="1200150"/>
            <a:ext cx="8229600" cy="33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Аналіз розподілу продажів квитків</a:t>
            </a:r>
            <a:br>
              <a:rPr lang="en-US" sz="1200">
                <a:latin typeface="Arial"/>
                <a:ea typeface="Arial"/>
                <a:cs typeface="Arial"/>
                <a:sym typeface="Arial"/>
              </a:rPr>
            </a:b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Аналіз заповненості залів</a:t>
            </a:r>
            <a:br>
              <a:rPr lang="en-US" sz="1200">
                <a:latin typeface="Arial"/>
                <a:ea typeface="Arial"/>
                <a:cs typeface="Arial"/>
                <a:sym typeface="Arial"/>
              </a:rPr>
            </a:b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Виявлення тижневих та сезонних тенденцій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8" name="Google Shape;188;p19"/>
          <p:cNvPicPr preferRelativeResize="0"/>
          <p:nvPr/>
        </p:nvPicPr>
        <p:blipFill rotWithShape="1">
          <a:blip r:embed="rId4">
            <a:alphaModFix/>
          </a:blip>
          <a:srcRect b="0" l="0" r="2591" t="0"/>
          <a:stretch/>
        </p:blipFill>
        <p:spPr>
          <a:xfrm>
            <a:off x="8128000" y="0"/>
            <a:ext cx="1016000" cy="270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04274" y="2705101"/>
            <a:ext cx="2641577" cy="203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94000" y="2705100"/>
            <a:ext cx="2785850" cy="203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20"/>
          <p:cNvPicPr preferRelativeResize="0"/>
          <p:nvPr/>
        </p:nvPicPr>
        <p:blipFill rotWithShape="1">
          <a:blip r:embed="rId3">
            <a:alphaModFix/>
          </a:blip>
          <a:srcRect b="54648" l="0" r="45187" t="0"/>
          <a:stretch/>
        </p:blipFill>
        <p:spPr>
          <a:xfrm>
            <a:off x="-3175" y="3673475"/>
            <a:ext cx="717550" cy="147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0"/>
          <p:cNvSpPr txBox="1"/>
          <p:nvPr>
            <p:ph type="title"/>
          </p:nvPr>
        </p:nvSpPr>
        <p:spPr>
          <a:xfrm>
            <a:off x="457200" y="206375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Arial"/>
                <a:ea typeface="Arial"/>
                <a:cs typeface="Arial"/>
                <a:sym typeface="Arial"/>
              </a:rPr>
              <a:t>OLAP-аналіз</a:t>
            </a:r>
            <a:endParaRPr sz="3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0"/>
          <p:cNvSpPr txBox="1"/>
          <p:nvPr>
            <p:ph idx="1" type="body"/>
          </p:nvPr>
        </p:nvSpPr>
        <p:spPr>
          <a:xfrm>
            <a:off x="457200" y="1200150"/>
            <a:ext cx="4042200" cy="33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Побудовано OLAP-куб для аналізу даних кінотеатру</a:t>
            </a:r>
            <a:br>
              <a:rPr lang="en-US" sz="1200">
                <a:latin typeface="Arial"/>
                <a:ea typeface="Arial"/>
                <a:cs typeface="Arial"/>
                <a:sym typeface="Arial"/>
              </a:rPr>
            </a:b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Виміри: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2730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Char char="●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рік, місяць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Char char="●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день тижня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Char char="●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фільм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Char char="●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жанр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Міри: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2730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Char char="●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кількість проданих квитків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Char char="●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сумарна виручка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Char char="●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середня заповненість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8" name="Google Shape;198;p20"/>
          <p:cNvPicPr preferRelativeResize="0"/>
          <p:nvPr/>
        </p:nvPicPr>
        <p:blipFill rotWithShape="1">
          <a:blip r:embed="rId4">
            <a:alphaModFix/>
          </a:blip>
          <a:srcRect b="0" l="0" r="2591" t="0"/>
          <a:stretch/>
        </p:blipFill>
        <p:spPr>
          <a:xfrm>
            <a:off x="8128000" y="0"/>
            <a:ext cx="1016000" cy="270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51800" y="1404775"/>
            <a:ext cx="3323800" cy="23339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21"/>
          <p:cNvPicPr preferRelativeResize="0"/>
          <p:nvPr/>
        </p:nvPicPr>
        <p:blipFill rotWithShape="1">
          <a:blip r:embed="rId3">
            <a:alphaModFix/>
          </a:blip>
          <a:srcRect b="54648" l="0" r="45187" t="0"/>
          <a:stretch/>
        </p:blipFill>
        <p:spPr>
          <a:xfrm>
            <a:off x="-3175" y="3673475"/>
            <a:ext cx="717550" cy="147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1"/>
          <p:cNvSpPr txBox="1"/>
          <p:nvPr>
            <p:ph type="title"/>
          </p:nvPr>
        </p:nvSpPr>
        <p:spPr>
          <a:xfrm>
            <a:off x="457200" y="206375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Arial"/>
                <a:ea typeface="Arial"/>
                <a:cs typeface="Arial"/>
                <a:sym typeface="Arial"/>
              </a:rPr>
              <a:t>Мережевий аналіз</a:t>
            </a:r>
            <a:endParaRPr sz="33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6" name="Google Shape;206;p21"/>
          <p:cNvPicPr preferRelativeResize="0"/>
          <p:nvPr/>
        </p:nvPicPr>
        <p:blipFill rotWithShape="1">
          <a:blip r:embed="rId4">
            <a:alphaModFix/>
          </a:blip>
          <a:srcRect b="0" l="0" r="2591" t="0"/>
          <a:stretch/>
        </p:blipFill>
        <p:spPr>
          <a:xfrm>
            <a:off x="8128000" y="0"/>
            <a:ext cx="1016000" cy="270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96588" y="1151275"/>
            <a:ext cx="4935975" cy="3524975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1"/>
          <p:cNvSpPr txBox="1"/>
          <p:nvPr>
            <p:ph idx="1" type="body"/>
          </p:nvPr>
        </p:nvSpPr>
        <p:spPr>
          <a:xfrm>
            <a:off x="457200" y="1200150"/>
            <a:ext cx="2961300" cy="33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Дані подано у вигляді графа</a:t>
            </a:r>
            <a:br>
              <a:rPr lang="en-US" sz="1200">
                <a:latin typeface="Arial"/>
                <a:ea typeface="Arial"/>
                <a:cs typeface="Arial"/>
                <a:sym typeface="Arial"/>
              </a:rPr>
            </a:b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Вузли: фільми та дні тижня</a:t>
            </a:r>
            <a:br>
              <a:rPr lang="en-US" sz="1200">
                <a:latin typeface="Arial"/>
                <a:ea typeface="Arial"/>
                <a:cs typeface="Arial"/>
                <a:sym typeface="Arial"/>
              </a:rPr>
            </a:b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Ребра: взаємозв’язок показів</a:t>
            </a:r>
            <a:br>
              <a:rPr lang="en-US" sz="1200">
                <a:latin typeface="Arial"/>
                <a:ea typeface="Arial"/>
                <a:cs typeface="Arial"/>
                <a:sym typeface="Arial"/>
              </a:rPr>
            </a:b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Аналіз зв’язності та структури мережі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54648" l="0" r="45187" t="0"/>
          <a:stretch/>
        </p:blipFill>
        <p:spPr>
          <a:xfrm>
            <a:off x="-3175" y="3673475"/>
            <a:ext cx="717550" cy="147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>
            <p:ph type="title"/>
          </p:nvPr>
        </p:nvSpPr>
        <p:spPr>
          <a:xfrm>
            <a:off x="457200" y="206375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Arial"/>
                <a:ea typeface="Arial"/>
                <a:cs typeface="Arial"/>
                <a:sym typeface="Arial"/>
              </a:rPr>
              <a:t>Регресійний аналіз</a:t>
            </a:r>
            <a:endParaRPr sz="3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2"/>
          <p:cNvSpPr txBox="1"/>
          <p:nvPr>
            <p:ph idx="1" type="body"/>
          </p:nvPr>
        </p:nvSpPr>
        <p:spPr>
          <a:xfrm>
            <a:off x="457200" y="1200150"/>
            <a:ext cx="3658200" cy="33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Мета: прогнозування відвідуваності та виручки</a:t>
            </a:r>
            <a:br>
              <a:rPr lang="en-US" sz="1200">
                <a:latin typeface="Arial"/>
                <a:ea typeface="Arial"/>
                <a:cs typeface="Arial"/>
                <a:sym typeface="Arial"/>
              </a:rPr>
            </a:b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Враховані фактори: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2730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Char char="●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ціна квитка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Char char="●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день тижня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Char char="●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жанр фільму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Виявлено значущі залежності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6" name="Google Shape;216;p22"/>
          <p:cNvPicPr preferRelativeResize="0"/>
          <p:nvPr/>
        </p:nvPicPr>
        <p:blipFill rotWithShape="1">
          <a:blip r:embed="rId4">
            <a:alphaModFix/>
          </a:blip>
          <a:srcRect b="0" l="0" r="2591" t="0"/>
          <a:stretch/>
        </p:blipFill>
        <p:spPr>
          <a:xfrm>
            <a:off x="8128000" y="0"/>
            <a:ext cx="1016000" cy="270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15475" y="1200147"/>
            <a:ext cx="4192950" cy="3288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23"/>
          <p:cNvPicPr preferRelativeResize="0"/>
          <p:nvPr/>
        </p:nvPicPr>
        <p:blipFill rotWithShape="1">
          <a:blip r:embed="rId3">
            <a:alphaModFix/>
          </a:blip>
          <a:srcRect b="54648" l="0" r="45187" t="0"/>
          <a:stretch/>
        </p:blipFill>
        <p:spPr>
          <a:xfrm>
            <a:off x="-3175" y="3673475"/>
            <a:ext cx="717550" cy="147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3"/>
          <p:cNvSpPr txBox="1"/>
          <p:nvPr>
            <p:ph type="title"/>
          </p:nvPr>
        </p:nvSpPr>
        <p:spPr>
          <a:xfrm>
            <a:off x="457200" y="206375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Arial"/>
                <a:ea typeface="Arial"/>
                <a:cs typeface="Arial"/>
                <a:sym typeface="Arial"/>
              </a:rPr>
              <a:t>Аналіз життєвого циклу фільмів</a:t>
            </a:r>
            <a:endParaRPr sz="3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3"/>
          <p:cNvSpPr txBox="1"/>
          <p:nvPr>
            <p:ph idx="1" type="body"/>
          </p:nvPr>
        </p:nvSpPr>
        <p:spPr>
          <a:xfrm>
            <a:off x="457200" y="1200150"/>
            <a:ext cx="3769200" cy="33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Survival-аналіз</a:t>
            </a:r>
            <a:br>
              <a:rPr lang="en-US" sz="1200">
                <a:latin typeface="Arial"/>
                <a:ea typeface="Arial"/>
                <a:cs typeface="Arial"/>
                <a:sym typeface="Arial"/>
              </a:rPr>
            </a:b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Регресія Кокса</a:t>
            </a:r>
            <a:br>
              <a:rPr lang="en-US" sz="1200">
                <a:latin typeface="Arial"/>
                <a:ea typeface="Arial"/>
                <a:cs typeface="Arial"/>
                <a:sym typeface="Arial"/>
              </a:rPr>
            </a:b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Оцінка тривалості прокату фільмів</a:t>
            </a:r>
            <a:br>
              <a:rPr lang="en-US" sz="1200">
                <a:latin typeface="Arial"/>
                <a:ea typeface="Arial"/>
                <a:cs typeface="Arial"/>
                <a:sym typeface="Arial"/>
              </a:rPr>
            </a:b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Аналіз факторів ризику зниження попиту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5" name="Google Shape;225;p23"/>
          <p:cNvPicPr preferRelativeResize="0"/>
          <p:nvPr/>
        </p:nvPicPr>
        <p:blipFill rotWithShape="1">
          <a:blip r:embed="rId4">
            <a:alphaModFix/>
          </a:blip>
          <a:srcRect b="0" l="0" r="2591" t="0"/>
          <a:stretch/>
        </p:blipFill>
        <p:spPr>
          <a:xfrm>
            <a:off x="8128000" y="0"/>
            <a:ext cx="1016000" cy="270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26400" y="1063775"/>
            <a:ext cx="4182176" cy="313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24"/>
          <p:cNvPicPr preferRelativeResize="0"/>
          <p:nvPr/>
        </p:nvPicPr>
        <p:blipFill rotWithShape="1">
          <a:blip r:embed="rId3">
            <a:alphaModFix/>
          </a:blip>
          <a:srcRect b="54648" l="0" r="45187" t="0"/>
          <a:stretch/>
        </p:blipFill>
        <p:spPr>
          <a:xfrm>
            <a:off x="-3175" y="3673475"/>
            <a:ext cx="717550" cy="147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4"/>
          <p:cNvSpPr txBox="1"/>
          <p:nvPr>
            <p:ph type="title"/>
          </p:nvPr>
        </p:nvSpPr>
        <p:spPr>
          <a:xfrm>
            <a:off x="457200" y="206375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Arial"/>
                <a:ea typeface="Arial"/>
                <a:cs typeface="Arial"/>
                <a:sym typeface="Arial"/>
              </a:rPr>
              <a:t>Аналітичні зрізи</a:t>
            </a:r>
            <a:endParaRPr sz="33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3" name="Google Shape;233;p24"/>
          <p:cNvPicPr preferRelativeResize="0"/>
          <p:nvPr/>
        </p:nvPicPr>
        <p:blipFill rotWithShape="1">
          <a:blip r:embed="rId4">
            <a:alphaModFix/>
          </a:blip>
          <a:srcRect b="0" l="0" r="2591" t="0"/>
          <a:stretch/>
        </p:blipFill>
        <p:spPr>
          <a:xfrm>
            <a:off x="8128000" y="0"/>
            <a:ext cx="1016000" cy="270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93775" y="902600"/>
            <a:ext cx="2929801" cy="219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08400" y="902600"/>
            <a:ext cx="3660334" cy="219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46300" y="3233750"/>
            <a:ext cx="4237500" cy="176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25"/>
          <p:cNvPicPr preferRelativeResize="0"/>
          <p:nvPr/>
        </p:nvPicPr>
        <p:blipFill rotWithShape="1">
          <a:blip r:embed="rId3">
            <a:alphaModFix/>
          </a:blip>
          <a:srcRect b="54648" l="0" r="45187" t="0"/>
          <a:stretch/>
        </p:blipFill>
        <p:spPr>
          <a:xfrm>
            <a:off x="-3175" y="3673475"/>
            <a:ext cx="717550" cy="147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5"/>
          <p:cNvSpPr txBox="1"/>
          <p:nvPr>
            <p:ph type="title"/>
          </p:nvPr>
        </p:nvSpPr>
        <p:spPr>
          <a:xfrm>
            <a:off x="457200" y="206375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Arial"/>
                <a:ea typeface="Arial"/>
                <a:cs typeface="Arial"/>
                <a:sym typeface="Arial"/>
              </a:rPr>
              <a:t>Основні результати дослідження</a:t>
            </a:r>
            <a:endParaRPr sz="3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5"/>
          <p:cNvSpPr txBox="1"/>
          <p:nvPr>
            <p:ph idx="1" type="body"/>
          </p:nvPr>
        </p:nvSpPr>
        <p:spPr>
          <a:xfrm>
            <a:off x="457200" y="1200150"/>
            <a:ext cx="8229600" cy="33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Виявлено пікові дні відвідуваності</a:t>
            </a:r>
            <a:br>
              <a:rPr lang="en-US" sz="1600">
                <a:latin typeface="Arial"/>
                <a:ea typeface="Arial"/>
                <a:cs typeface="Arial"/>
                <a:sym typeface="Arial"/>
              </a:rPr>
            </a:b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Визначено найбільш прибуткові жанри</a:t>
            </a:r>
            <a:br>
              <a:rPr lang="en-US" sz="1600">
                <a:latin typeface="Arial"/>
                <a:ea typeface="Arial"/>
                <a:cs typeface="Arial"/>
                <a:sym typeface="Arial"/>
              </a:rPr>
            </a:b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Підтверджено зв’язок між заповненістю та виручкою</a:t>
            </a:r>
            <a:br>
              <a:rPr lang="en-US" sz="1600">
                <a:latin typeface="Arial"/>
                <a:ea typeface="Arial"/>
                <a:cs typeface="Arial"/>
                <a:sym typeface="Arial"/>
              </a:rPr>
            </a:b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Отримано інтерпретовані аналітичні результати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4" name="Google Shape;244;p25"/>
          <p:cNvPicPr preferRelativeResize="0"/>
          <p:nvPr/>
        </p:nvPicPr>
        <p:blipFill rotWithShape="1">
          <a:blip r:embed="rId4">
            <a:alphaModFix/>
          </a:blip>
          <a:srcRect b="0" l="0" r="2591" t="0"/>
          <a:stretch/>
        </p:blipFill>
        <p:spPr>
          <a:xfrm>
            <a:off x="8128000" y="0"/>
            <a:ext cx="1016000" cy="270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26"/>
          <p:cNvPicPr preferRelativeResize="0"/>
          <p:nvPr/>
        </p:nvPicPr>
        <p:blipFill rotWithShape="1">
          <a:blip r:embed="rId3">
            <a:alphaModFix/>
          </a:blip>
          <a:srcRect b="54648" l="0" r="45187" t="0"/>
          <a:stretch/>
        </p:blipFill>
        <p:spPr>
          <a:xfrm>
            <a:off x="-3175" y="3673475"/>
            <a:ext cx="717550" cy="147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6"/>
          <p:cNvSpPr txBox="1"/>
          <p:nvPr>
            <p:ph type="title"/>
          </p:nvPr>
        </p:nvSpPr>
        <p:spPr>
          <a:xfrm>
            <a:off x="457200" y="206375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Arial"/>
                <a:ea typeface="Arial"/>
                <a:cs typeface="Arial"/>
                <a:sym typeface="Arial"/>
              </a:rPr>
              <a:t>Рекомендації щодо оптимізації роботи кінотеатру</a:t>
            </a:r>
            <a:endParaRPr sz="3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26"/>
          <p:cNvSpPr txBox="1"/>
          <p:nvPr>
            <p:ph idx="1" type="body"/>
          </p:nvPr>
        </p:nvSpPr>
        <p:spPr>
          <a:xfrm>
            <a:off x="457200" y="1200150"/>
            <a:ext cx="8229600" cy="33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000">
                <a:latin typeface="Arial"/>
                <a:ea typeface="Arial"/>
                <a:cs typeface="Arial"/>
                <a:sym typeface="Arial"/>
              </a:rPr>
              <a:t>1. Оптимізація розкладу сеансів</a:t>
            </a:r>
            <a:br>
              <a:rPr b="1" lang="en-US" sz="1000">
                <a:latin typeface="Arial"/>
                <a:ea typeface="Arial"/>
                <a:cs typeface="Arial"/>
                <a:sym typeface="Arial"/>
              </a:rPr>
            </a:br>
            <a:r>
              <a:rPr lang="en-US" sz="1000">
                <a:latin typeface="Arial"/>
                <a:ea typeface="Arial"/>
                <a:cs typeface="Arial"/>
                <a:sym typeface="Arial"/>
              </a:rPr>
              <a:t>Рекомендується збільшити кількість сеансів фільмів із стабільно високою середньою заповненістю у пікові дні тижня (п’ятниця–неділя), а також зменшити кількість малоефективних показів у будні дні для фільмів з низьким попитом.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000">
                <a:latin typeface="Arial"/>
                <a:ea typeface="Arial"/>
                <a:cs typeface="Arial"/>
                <a:sym typeface="Arial"/>
              </a:rPr>
              <a:t>2. Диференціація цінової політики</a:t>
            </a:r>
            <a:br>
              <a:rPr b="1" lang="en-US" sz="1000">
                <a:latin typeface="Arial"/>
                <a:ea typeface="Arial"/>
                <a:cs typeface="Arial"/>
                <a:sym typeface="Arial"/>
              </a:rPr>
            </a:br>
            <a:r>
              <a:rPr lang="en-US" sz="1000">
                <a:latin typeface="Arial"/>
                <a:ea typeface="Arial"/>
                <a:cs typeface="Arial"/>
                <a:sym typeface="Arial"/>
              </a:rPr>
              <a:t>На основі регресійного аналізу доцільно застосовувати гнучке ціноутворення: підвищувати ціну квитка для сеансів з високим прогнозованим попитом та використовувати знижки або акції для стимулювання відвідуваності у низькопопитні періоди.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000">
                <a:latin typeface="Arial"/>
                <a:ea typeface="Arial"/>
                <a:cs typeface="Arial"/>
                <a:sym typeface="Arial"/>
              </a:rPr>
              <a:t>3. Управління життєвим циклом фільмів</a:t>
            </a:r>
            <a:br>
              <a:rPr b="1" lang="en-US" sz="1000">
                <a:latin typeface="Arial"/>
                <a:ea typeface="Arial"/>
                <a:cs typeface="Arial"/>
                <a:sym typeface="Arial"/>
              </a:rPr>
            </a:br>
            <a:r>
              <a:rPr lang="en-US" sz="1000">
                <a:latin typeface="Arial"/>
                <a:ea typeface="Arial"/>
                <a:cs typeface="Arial"/>
                <a:sym typeface="Arial"/>
              </a:rPr>
              <a:t>Результати аналізу виживання свідчать про доцільність скорочення прокату фільмів, заповненість яких швидко знижується, та продовження показу фільмів із тривалим стабільним попитом.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000">
                <a:latin typeface="Arial"/>
                <a:ea typeface="Arial"/>
                <a:cs typeface="Arial"/>
                <a:sym typeface="Arial"/>
              </a:rPr>
              <a:t>4. Жанрова стратегія прокату</a:t>
            </a:r>
            <a:br>
              <a:rPr b="1" lang="en-US" sz="1000">
                <a:latin typeface="Arial"/>
                <a:ea typeface="Arial"/>
                <a:cs typeface="Arial"/>
                <a:sym typeface="Arial"/>
              </a:rPr>
            </a:br>
            <a:r>
              <a:rPr lang="en-US" sz="1000">
                <a:latin typeface="Arial"/>
                <a:ea typeface="Arial"/>
                <a:cs typeface="Arial"/>
                <a:sym typeface="Arial"/>
              </a:rPr>
              <a:t>OLAP-аналіз показав відмінності у фінансовій ефективності жанрів. Рекомендується збільшити частку жанрів, які формують найбільшу сумарну виручку, та використовувати менш прибуткові жанри як доповнення до основного репертуару.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000">
                <a:latin typeface="Arial"/>
                <a:ea typeface="Arial"/>
                <a:cs typeface="Arial"/>
                <a:sym typeface="Arial"/>
              </a:rPr>
              <a:t>5. Підтримка управлінських рішень</a:t>
            </a:r>
            <a:br>
              <a:rPr b="1" lang="en-US" sz="1000">
                <a:latin typeface="Arial"/>
                <a:ea typeface="Arial"/>
                <a:cs typeface="Arial"/>
                <a:sym typeface="Arial"/>
              </a:rPr>
            </a:br>
            <a:r>
              <a:rPr lang="en-US" sz="1000">
                <a:latin typeface="Arial"/>
                <a:ea typeface="Arial"/>
                <a:cs typeface="Arial"/>
                <a:sym typeface="Arial"/>
              </a:rPr>
              <a:t>Отримані аналітичні результати можуть бути використані як основа для прийняття рішень щодо планування розкладу, формування маркетингових кампаній та довгострокової стратегії розвитку кінотеатру.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2" name="Google Shape;252;p26"/>
          <p:cNvPicPr preferRelativeResize="0"/>
          <p:nvPr/>
        </p:nvPicPr>
        <p:blipFill rotWithShape="1">
          <a:blip r:embed="rId4">
            <a:alphaModFix/>
          </a:blip>
          <a:srcRect b="0" l="0" r="2591" t="0"/>
          <a:stretch/>
        </p:blipFill>
        <p:spPr>
          <a:xfrm>
            <a:off x="8128000" y="0"/>
            <a:ext cx="1016000" cy="270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27"/>
          <p:cNvPicPr preferRelativeResize="0"/>
          <p:nvPr/>
        </p:nvPicPr>
        <p:blipFill rotWithShape="1">
          <a:blip r:embed="rId3">
            <a:alphaModFix/>
          </a:blip>
          <a:srcRect b="54648" l="0" r="45187" t="0"/>
          <a:stretch/>
        </p:blipFill>
        <p:spPr>
          <a:xfrm>
            <a:off x="-3175" y="3673475"/>
            <a:ext cx="717550" cy="147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7"/>
          <p:cNvSpPr txBox="1"/>
          <p:nvPr>
            <p:ph type="title"/>
          </p:nvPr>
        </p:nvSpPr>
        <p:spPr>
          <a:xfrm>
            <a:off x="457200" y="206375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Arial"/>
                <a:ea typeface="Arial"/>
                <a:cs typeface="Arial"/>
                <a:sym typeface="Arial"/>
              </a:rPr>
              <a:t>Практична цінність проєкту</a:t>
            </a:r>
            <a:endParaRPr sz="3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27"/>
          <p:cNvSpPr txBox="1"/>
          <p:nvPr>
            <p:ph idx="1" type="body"/>
          </p:nvPr>
        </p:nvSpPr>
        <p:spPr>
          <a:xfrm>
            <a:off x="457200" y="1200150"/>
            <a:ext cx="8229600" cy="33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Оптимізація розкладу показів</a:t>
            </a:r>
            <a:br>
              <a:rPr lang="en-US" sz="1600">
                <a:latin typeface="Arial"/>
                <a:ea typeface="Arial"/>
                <a:cs typeface="Arial"/>
                <a:sym typeface="Arial"/>
              </a:rPr>
            </a:b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Підтримка цінових рішень</a:t>
            </a:r>
            <a:br>
              <a:rPr lang="en-US" sz="1600">
                <a:latin typeface="Arial"/>
                <a:ea typeface="Arial"/>
                <a:cs typeface="Arial"/>
                <a:sym typeface="Arial"/>
              </a:rPr>
            </a:b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Покращення маркетингових стратегій</a:t>
            </a:r>
            <a:br>
              <a:rPr lang="en-US" sz="1600">
                <a:latin typeface="Arial"/>
                <a:ea typeface="Arial"/>
                <a:cs typeface="Arial"/>
                <a:sym typeface="Arial"/>
              </a:rPr>
            </a:b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Масштабованість під реальні дані кінотеатрів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0" name="Google Shape;260;p27"/>
          <p:cNvPicPr preferRelativeResize="0"/>
          <p:nvPr/>
        </p:nvPicPr>
        <p:blipFill rotWithShape="1">
          <a:blip r:embed="rId4">
            <a:alphaModFix/>
          </a:blip>
          <a:srcRect b="0" l="0" r="2591" t="0"/>
          <a:stretch/>
        </p:blipFill>
        <p:spPr>
          <a:xfrm>
            <a:off x="8128000" y="0"/>
            <a:ext cx="1016000" cy="270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p28"/>
          <p:cNvPicPr preferRelativeResize="0"/>
          <p:nvPr/>
        </p:nvPicPr>
        <p:blipFill rotWithShape="1">
          <a:blip r:embed="rId3">
            <a:alphaModFix/>
          </a:blip>
          <a:srcRect b="54648" l="0" r="45187" t="0"/>
          <a:stretch/>
        </p:blipFill>
        <p:spPr>
          <a:xfrm>
            <a:off x="-3175" y="3673475"/>
            <a:ext cx="717550" cy="147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8"/>
          <p:cNvSpPr txBox="1"/>
          <p:nvPr>
            <p:ph type="title"/>
          </p:nvPr>
        </p:nvSpPr>
        <p:spPr>
          <a:xfrm>
            <a:off x="457200" y="206375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Arial"/>
                <a:ea typeface="Arial"/>
                <a:cs typeface="Arial"/>
                <a:sym typeface="Arial"/>
              </a:rPr>
              <a:t>Висновки</a:t>
            </a:r>
            <a:endParaRPr sz="3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28"/>
          <p:cNvSpPr txBox="1"/>
          <p:nvPr>
            <p:ph idx="1" type="body"/>
          </p:nvPr>
        </p:nvSpPr>
        <p:spPr>
          <a:xfrm>
            <a:off x="457200" y="1200150"/>
            <a:ext cx="8229600" cy="33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Проєкт реалізує повний цикл інтелектуального аналізу даних</a:t>
            </a:r>
            <a:br>
              <a:rPr lang="en-US" sz="1600">
                <a:latin typeface="Arial"/>
                <a:ea typeface="Arial"/>
                <a:cs typeface="Arial"/>
                <a:sym typeface="Arial"/>
              </a:rPr>
            </a:b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Поєднує OLAP, Data Mining та прогнозування</a:t>
            </a:r>
            <a:br>
              <a:rPr lang="en-US" sz="1600">
                <a:latin typeface="Arial"/>
                <a:ea typeface="Arial"/>
                <a:cs typeface="Arial"/>
                <a:sym typeface="Arial"/>
              </a:rPr>
            </a:b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Отримані результати мають практичну цінність</a:t>
            </a:r>
            <a:br>
              <a:rPr lang="en-US" sz="1600">
                <a:latin typeface="Arial"/>
                <a:ea typeface="Arial"/>
                <a:cs typeface="Arial"/>
                <a:sym typeface="Arial"/>
              </a:rPr>
            </a:b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Мета та завдання проєкту виконані повністю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8" name="Google Shape;268;p28"/>
          <p:cNvPicPr preferRelativeResize="0"/>
          <p:nvPr/>
        </p:nvPicPr>
        <p:blipFill rotWithShape="1">
          <a:blip r:embed="rId4">
            <a:alphaModFix/>
          </a:blip>
          <a:srcRect b="0" l="0" r="2591" t="0"/>
          <a:stretch/>
        </p:blipFill>
        <p:spPr>
          <a:xfrm>
            <a:off x="8128000" y="0"/>
            <a:ext cx="1016000" cy="270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